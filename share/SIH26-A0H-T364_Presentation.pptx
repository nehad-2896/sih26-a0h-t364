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296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26154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Gen AI Platform for Automated Content Transformation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SIH26-A0H-T364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Team Invictus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000" y="0"/>
            <a:ext cx="7950000" cy="1143000"/>
          </a:xfrm>
        </p:spPr>
        <p:txBody>
          <a:bodyPr/>
          <a:lstStyle/>
          <a:p>
            <a:pPr eaLnBrk="1" hangingPunct="1"/>
            <a:b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CONTENTFORGE AI – Unified Gen AI Platform for Automated Content Transformation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17320"/>
            <a:ext cx="12191999" cy="3246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Single dashboard converts one source — text, documents, images, video or prompts — into every deliverable an operator selects, generated together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Multimodal GenAI parses source content for context, entities &amp; intent, then routes it through format-specific generation modules in parallel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Blockchain-anchored provenance ledger, on-prem deployment option &amp; configurable tone/audience controls make outputs auditable, secure &amp; tailored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Core platform modules: Content Ingestion Engine  •  Intent &amp; Parameter Engine  •  Format Generation Modules  •  Review &amp; Export Studio  •  Provenance &amp; Audit Ledger  •  Admin &amp; Access Console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Team 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Oval 15362"/>
          <p:cNvSpPr/>
          <p:nvPr/>
        </p:nvSpPr>
        <p:spPr>
          <a:xfrm>
            <a:off x="3878580" y="5166360"/>
            <a:ext cx="731520" cy="7315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Analysts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49980" y="59232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365" name="Oval 15364"/>
          <p:cNvSpPr/>
          <p:nvPr/>
        </p:nvSpPr>
        <p:spPr>
          <a:xfrm>
            <a:off x="5113020" y="5166360"/>
            <a:ext cx="731520" cy="7315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Comms Team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884420" y="59232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367" name="Oval 15366"/>
          <p:cNvSpPr/>
          <p:nvPr/>
        </p:nvSpPr>
        <p:spPr>
          <a:xfrm>
            <a:off x="6347460" y="5166360"/>
            <a:ext cx="731520" cy="731520"/>
          </a:xfrm>
          <a:prstGeom prst="ellipse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ContentForge
AI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118860" y="59232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369" name="Oval 15368"/>
          <p:cNvSpPr/>
          <p:nvPr/>
        </p:nvSpPr>
        <p:spPr>
          <a:xfrm>
            <a:off x="7581900" y="5166360"/>
            <a:ext cx="731520" cy="7315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Leaders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7353300" y="59232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371" name="Right Arrow 15370"/>
          <p:cNvSpPr/>
          <p:nvPr/>
        </p:nvSpPr>
        <p:spPr>
          <a:xfrm>
            <a:off x="4590100" y="5449824"/>
            <a:ext cx="542920" cy="164592"/>
          </a:xfrm>
          <a:prstGeom prst="rightArrow">
            <a:avLst/>
          </a:prstGeom>
          <a:solidFill>
            <a:srgbClr val="B8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ight Arrow 15371"/>
          <p:cNvSpPr/>
          <p:nvPr/>
        </p:nvSpPr>
        <p:spPr>
          <a:xfrm>
            <a:off x="5824540" y="5449824"/>
            <a:ext cx="542920" cy="164592"/>
          </a:xfrm>
          <a:prstGeom prst="rightArrow">
            <a:avLst/>
          </a:prstGeom>
          <a:solidFill>
            <a:srgbClr val="B8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Right Arrow 15372"/>
          <p:cNvSpPr/>
          <p:nvPr/>
        </p:nvSpPr>
        <p:spPr>
          <a:xfrm>
            <a:off x="7058980" y="5449824"/>
            <a:ext cx="542920" cy="164592"/>
          </a:xfrm>
          <a:prstGeom prst="rightArrow">
            <a:avLst/>
          </a:prstGeom>
          <a:solidFill>
            <a:srgbClr val="B8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387858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E2A4A"/>
                </a:solidFill>
                <a:latin typeface="Calibri"/>
              </a:rPr>
              <a:t>One engine, every content format — instantly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67789" y="41833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728216"/>
            <a:ext cx="93853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Frontend: React.js  |  Backend: Node.js / FastAPI  |  Database: PostgreSQL + pgvector &amp; MongoDB  |  AI/ML: Multimodal LLM, LangChain, Whisper ASR, Tesseract OCR  |  Security: Blockchain provenance ledger + on-prem deployment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Source ingestion → context extraction → format-specific generation → review &amp; export, running as parallel jobs (see flow below)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Security &amp; Compliance: on-prem/air-gapped deployment for classified content  |  blockchain-anchored provenance &amp; audit trail  |  RBAC with OAuth 2.0, TLS 1.3 &amp; AES-256  |  DPDP Act 2023-compliant  |  periodic red-team review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DevOps &amp; Scale: Docker + Kubernetes  |  CI/CD via GitHub Actions with blue-green deploys  |  GPU-backed auto-scaling inference cluster  |  Prometheus + Grafana monitoring  |  500+ concurrent transformation requests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Team Invictus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815340" y="4526280"/>
            <a:ext cx="1783080" cy="8686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Content
Ingestion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2598420" y="4860036"/>
            <a:ext cx="411480" cy="201168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3009900" y="4526280"/>
            <a:ext cx="1783080" cy="868680"/>
          </a:xfrm>
          <a:prstGeom prst="round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Context &amp;
Intent Extraction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4792980" y="4860036"/>
            <a:ext cx="411480" cy="201168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5204460" y="4526280"/>
            <a:ext cx="1783080" cy="8686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Format
Generation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6987540" y="4860036"/>
            <a:ext cx="411480" cy="201168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7399020" y="4526280"/>
            <a:ext cx="1783080" cy="8686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Generated
Deliverables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9182100" y="4860036"/>
            <a:ext cx="411480" cy="201168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9593580" y="4526280"/>
            <a:ext cx="1783080" cy="8686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Review &amp;
Export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15340" y="4142232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E2A4A"/>
                </a:solidFill>
                <a:latin typeface="Calibri"/>
              </a:rPr>
              <a:t>End-to-end system flow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204460" y="5715000"/>
            <a:ext cx="1783080" cy="502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 b="0">
                <a:solidFill>
                  <a:srgbClr val="1E2A4A"/>
                </a:solidFill>
                <a:latin typeface="Calibri"/>
              </a:rPr>
              <a:t>Operator selects
source &amp; output types</a:t>
            </a:r>
          </a:p>
        </p:txBody>
      </p:sp>
      <p:cxnSp>
        <p:nvCxnSpPr>
          <p:cNvPr id="17422" name="Connector 17421"/>
          <p:cNvCxnSpPr/>
          <p:nvPr/>
        </p:nvCxnSpPr>
        <p:spPr>
          <a:xfrm flipV="1">
            <a:off x="6096000" y="5394960"/>
            <a:ext cx="0" cy="320040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93853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Built entirely on proven, freely available technology (React, FastAPI, PostgreSQL, open-weight LLMs); modular pipeline lets us ship text-format generation first and layer on video/infographic next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Regulatory: aligned with govt. data-classification &amp; on-prem hosting norms  |  DPDP Act 2023-compliant handling of personal data  |  role-based access enforces least-privilege exposure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 low opex via self-hosted open-weight models vs. paid APIs  |  tiered licensing (departmental self-host or managed SaaS)  |  central govt. cybersecurity/communication grant potential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Key risks identified, with a mitigation strategy for each: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Team 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822960" y="306324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B03A2E"/>
                </a:solidFill>
                <a:latin typeface="Calibri"/>
              </a:rPr>
              <a:t>Risk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0" y="306324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  <a:latin typeface="Calibri"/>
              </a:rPr>
              <a:t>Mitigation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22960" y="3383280"/>
            <a:ext cx="4160520" cy="420624"/>
          </a:xfrm>
          <a:prstGeom prst="roundRect">
            <a:avLst/>
          </a:prstGeom>
          <a:solidFill>
            <a:srgbClr val="F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B03A2E"/>
                </a:solidFill>
                <a:latin typeface="Calibri"/>
              </a:rPr>
              <a:t>Hallucinated or inaccurate generated content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5029200" y="3511296"/>
            <a:ext cx="384048" cy="164592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5486400" y="3383280"/>
            <a:ext cx="4160520" cy="420624"/>
          </a:xfrm>
          <a:prstGeom prst="round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1E2A4A"/>
                </a:solidFill>
                <a:latin typeface="Calibri"/>
              </a:rPr>
              <a:t>Human-in-the-loop review + retrieval-grounded generation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22960" y="3895344"/>
            <a:ext cx="4160520" cy="420624"/>
          </a:xfrm>
          <a:prstGeom prst="roundRect">
            <a:avLst/>
          </a:prstGeom>
          <a:solidFill>
            <a:srgbClr val="F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B03A2E"/>
                </a:solidFill>
                <a:latin typeface="Calibri"/>
              </a:rPr>
              <a:t>High compute cost for video/infographic generation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029200" y="4023360"/>
            <a:ext cx="384048" cy="164592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5486400" y="3895344"/>
            <a:ext cx="4160520" cy="420624"/>
          </a:xfrm>
          <a:prstGeom prst="round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1E2A4A"/>
                </a:solidFill>
                <a:latin typeface="Calibri"/>
              </a:rPr>
              <a:t>Templated storyboard/layout generation instead of full media synthesis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22960" y="4407408"/>
            <a:ext cx="4160520" cy="420624"/>
          </a:xfrm>
          <a:prstGeom prst="roundRect">
            <a:avLst/>
          </a:prstGeom>
          <a:solidFill>
            <a:srgbClr val="F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B03A2E"/>
                </a:solidFill>
                <a:latin typeface="Calibri"/>
              </a:rPr>
              <a:t>Sensitive source content leakage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5029200" y="4535424"/>
            <a:ext cx="384048" cy="164592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5486400" y="4407408"/>
            <a:ext cx="4160520" cy="420624"/>
          </a:xfrm>
          <a:prstGeom prst="round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1E2A4A"/>
                </a:solidFill>
                <a:latin typeface="Calibri"/>
              </a:rPr>
              <a:t>On-prem/air-gapped deployment, encryption &amp; strict RBAC</a:t>
            </a:r>
          </a:p>
        </p:txBody>
      </p:sp>
      <p:sp>
        <p:nvSpPr>
          <p:cNvPr id="90001" name="Rounded Rectangle 17412"/>
          <p:cNvSpPr/>
          <p:nvPr/>
        </p:nvSpPr>
        <p:spPr>
          <a:xfrm>
            <a:off x="822960" y="4919472"/>
            <a:ext cx="4160520" cy="420624"/>
          </a:xfrm>
          <a:prstGeom prst="roundRect">
            <a:avLst/>
          </a:prstGeom>
          <a:solidFill>
            <a:srgbClr val="F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B03A2E"/>
                </a:solidFill>
                <a:latin typeface="Calibri"/>
              </a:rPr>
              <a:t>Inconsistent quality across output formats</a:t>
            </a:r>
          </a:p>
        </p:txBody>
      </p:sp>
      <p:sp>
        <p:nvSpPr>
          <p:cNvPr id="90002" name="Right Arrow 17413"/>
          <p:cNvSpPr/>
          <p:nvPr/>
        </p:nvSpPr>
        <p:spPr>
          <a:xfrm>
            <a:off x="5029200" y="5047488"/>
            <a:ext cx="384048" cy="164592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03" name="Rounded Rectangle 17414"/>
          <p:cNvSpPr/>
          <p:nvPr/>
        </p:nvSpPr>
        <p:spPr>
          <a:xfrm>
            <a:off x="5486400" y="4919472"/>
            <a:ext cx="4160520" cy="420624"/>
          </a:xfrm>
          <a:prstGeom prst="round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1E2A4A"/>
                </a:solidFill>
                <a:latin typeface="Calibri"/>
              </a:rPr>
              <a:t>Format-specific fine-tuned templates + automated QA scoring</a:t>
            </a:r>
          </a:p>
        </p:txBody>
      </p:sp>
      <p:sp>
        <p:nvSpPr>
          <p:cNvPr id="90004" name="Rounded Rectangle 17412"/>
          <p:cNvSpPr/>
          <p:nvPr/>
        </p:nvSpPr>
        <p:spPr>
          <a:xfrm>
            <a:off x="822960" y="5431536"/>
            <a:ext cx="4160520" cy="420624"/>
          </a:xfrm>
          <a:prstGeom prst="roundRect">
            <a:avLst/>
          </a:prstGeom>
          <a:solidFill>
            <a:srgbClr val="F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B03A2E"/>
                </a:solidFill>
                <a:latin typeface="Calibri"/>
              </a:rPr>
              <a:t>Multilingual / tone requirements not met</a:t>
            </a:r>
          </a:p>
        </p:txBody>
      </p:sp>
      <p:sp>
        <p:nvSpPr>
          <p:cNvPr id="90005" name="Right Arrow 17413"/>
          <p:cNvSpPr/>
          <p:nvPr/>
        </p:nvSpPr>
        <p:spPr>
          <a:xfrm>
            <a:off x="5029200" y="5559552"/>
            <a:ext cx="384048" cy="164592"/>
          </a:xfrm>
          <a:prstGeom prst="rightArrow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06" name="Rounded Rectangle 17414"/>
          <p:cNvSpPr/>
          <p:nvPr/>
        </p:nvSpPr>
        <p:spPr>
          <a:xfrm>
            <a:off x="5486400" y="5431536"/>
            <a:ext cx="4160520" cy="420624"/>
          </a:xfrm>
          <a:prstGeom prst="round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0">
                <a:solidFill>
                  <a:srgbClr val="1E2A4A"/>
                </a:solidFill>
                <a:latin typeface="Calibri"/>
              </a:rPr>
              <a:t>Configurable tone, audience &amp; language parameters with style calibration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4458" y="9093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99872" y="1370460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Directly benefits security teams, communicators and leadership across any organisation that must repeatedly repurpose critical content for different audiences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 70%+ faster content turnaround &amp; lower content-ops cost. Social: consistent, trustworthy dissemination of information. Governance: blockchain-verified provenance curbs misinformation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Operational Efficiency: Reduces repetitive manual content creation and enables teams to repurpose critical information across multiple formats from a single source, saving significant time and resources.</a:t>
            </a:r>
            <a:endParaRPr lang="en-US" sz="1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Team 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906780" y="4206240"/>
            <a:ext cx="3246120" cy="14173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2209800" y="3886200"/>
            <a:ext cx="640080" cy="6400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906780" y="46177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E2A4A"/>
                </a:solidFill>
                <a:latin typeface="Calibri"/>
              </a:rPr>
              <a:t>Security Analysts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43940" y="493776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One-click generation of every required format from a single source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472940" y="4206240"/>
            <a:ext cx="3246120" cy="14173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5775960" y="3886200"/>
            <a:ext cx="640080" cy="640080"/>
          </a:xfrm>
          <a:prstGeom prst="ellipse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472940" y="46177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E2A4A"/>
                </a:solidFill>
                <a:latin typeface="Calibri"/>
              </a:rPr>
              <a:t>Comms &amp; PR Teams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610100" y="493776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Brand-consistent, ready-to-publish content across formats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39100" y="4206240"/>
            <a:ext cx="3246120" cy="14173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Oval 17419"/>
          <p:cNvSpPr/>
          <p:nvPr/>
        </p:nvSpPr>
        <p:spPr>
          <a:xfrm>
            <a:off x="9342120" y="3886200"/>
            <a:ext cx="640080" cy="6400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8039100" y="46177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E2A4A"/>
                </a:solidFill>
                <a:latin typeface="Calibri"/>
              </a:rPr>
              <a:t>Leadership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176260" y="493776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Auto-generated executive summaries &amp; slide decks in minutes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2648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F4E79"/>
                </a:solidFill>
                <a:latin typeface="Calibri"/>
              </a:rPr>
              <a:t>Key outcomes:  70%+ faster content turnaround   •   8+ output formats from one source   •   100% provenance-verified content   •   SDG 9 &amp; 16 — Industry Innovation &amp; Strong Institutions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2514600"/>
            <a:ext cx="5532120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+mj-lt"/>
                <a:cs typeface="Arial" pitchFamily="34" charset="0"/>
              </a:rPr>
              <a:t>[1]  Smart India Hackathon 2026 Problem Statement Portal, Problem Statement ID 26154. [Online]. Available: https://sih.gov.in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+mj-lt"/>
                <a:cs typeface="Arial" pitchFamily="34" charset="0"/>
              </a:rPr>
              <a:t>[2]  T. Brown et al., "Language Models are Few-Shot Learners," in Proc. Advances in Neural Information Processing Systems (NeurIPS), 2020, pp. 1877–1901.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+mj-lt"/>
                <a:cs typeface="Arial" pitchFamily="34" charset="0"/>
              </a:rPr>
              <a:t>[3]  A. Radford, J. W. Kim, T. Xu, G. Brockman, C. McLeavey, and I. Sutskever, "Robust Speech Recognition via Large-Scale Weak Supervision," arXiv:2212.04356, 2022.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+mj-lt"/>
                <a:cs typeface="Arial" pitchFamily="34" charset="0"/>
              </a:rPr>
              <a:t>[4]  National Critical Information Infrastructure Protection Centre (NCIIPC). [Online]. Available: https://nciipc.gov.in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+mj-lt"/>
                <a:cs typeface="Arial" pitchFamily="34" charset="0"/>
              </a:rPr>
              <a:t>[5]  Ministry of Electronics and Information Technology (MeitY), "Digital Personal Data Protection Act, 2023." [Online]. Available: https://www.meity.gov.in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Team Invictus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309360" y="2514600"/>
            <a:ext cx="548640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333333"/>
                </a:solidFill>
                <a:latin typeface="Calibri"/>
              </a:rPr>
              <a:t>[6]  OWASP Foundation, "OWASP Top 10 for Large Language Model Applications," 2024.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333333"/>
                </a:solidFill>
                <a:latin typeface="Calibri"/>
              </a:rPr>
              <a:t>[7]  P. Lewis et al., "Retrieval-Augmented Generation for Knowledge-Intensive NLP Tasks," in Proc.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NeurIPS</a:t>
            </a:r>
            <a:r>
              <a:rPr sz="1400" dirty="0">
                <a:solidFill>
                  <a:srgbClr val="333333"/>
                </a:solidFill>
                <a:latin typeface="Calibri"/>
              </a:rPr>
              <a:t>, 2020, pp. 9459–9474.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333333"/>
                </a:solidFill>
                <a:latin typeface="Calibri"/>
              </a:rPr>
              <a:t>[8]  National Institute of Standards and Technology (NIST), "AI Risk Management Framework," NIST AI 100-1, 2023.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333333"/>
                </a:solidFill>
                <a:latin typeface="Calibri"/>
              </a:rPr>
              <a:t>[9] 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LangChain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Documentation. [Online]. Available: https://python.langchain.com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" y="1234440"/>
            <a:ext cx="109728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F4E79"/>
                </a:solidFill>
                <a:latin typeface="Calibri"/>
              </a:rPr>
              <a:t>Competitive Landscape</a:t>
            </a:r>
          </a:p>
          <a:p>
            <a:r>
              <a:rPr sz="1400" dirty="0">
                <a:solidFill>
                  <a:srgbClr val="404040"/>
                </a:solidFill>
                <a:latin typeface="Calibri"/>
              </a:rPr>
              <a:t>•  Jasper AI / Copy.ai — general-purpose marketing copy generation; no single-source, multi-format orchestration or provenance tracking</a:t>
            </a:r>
          </a:p>
          <a:p>
            <a:r>
              <a:rPr sz="1400" dirty="0">
                <a:solidFill>
                  <a:srgbClr val="404040"/>
                </a:solidFill>
                <a:latin typeface="Calibri"/>
              </a:rPr>
              <a:t>•  Canva Magic Design — visual/design templates only; no video script, advisory or executive-summary generation</a:t>
            </a:r>
          </a:p>
          <a:p>
            <a:r>
              <a:rPr sz="1400" dirty="0">
                <a:solidFill>
                  <a:srgbClr val="404040"/>
                </a:solidFill>
                <a:latin typeface="Calibri"/>
              </a:rPr>
              <a:t>•  Lately.ai — social-media repurposing only; no cross-format orchestration, security focus or on-prem option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1007</Words>
  <Application>Microsoft Office PowerPoint</Application>
  <PresentationFormat>Widescreen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CONTENTFORGE AI – Unified Gen AI Platform for Automated Content Transformation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 LIKHITA</cp:lastModifiedBy>
  <cp:revision>151</cp:revision>
  <dcterms:created xsi:type="dcterms:W3CDTF">2013-12-12T18:46:50Z</dcterms:created>
  <dcterms:modified xsi:type="dcterms:W3CDTF">2026-09-14T10:32:03Z</dcterms:modified>
  <cp:category/>
</cp:coreProperties>
</file>