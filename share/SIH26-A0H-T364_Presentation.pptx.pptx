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4" r:id="rId5"/>
    <p:sldId id="293" r:id="rId6"/>
    <p:sldId id="297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4EEAC-3316-4ACE-9326-A54C914E34A4}" v="6" dt="2026-08-30T13:42:45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DEEPTHI" userId="11b4eb8af682c208" providerId="LiveId" clId="{FD963E51-56A7-4F59-9560-027052A78E42}"/>
    <pc:docChg chg="undo custSel addSld delSld modSld">
      <pc:chgData name="NEHA DEEPTHI" userId="11b4eb8af682c208" providerId="LiveId" clId="{FD963E51-56A7-4F59-9560-027052A78E42}" dt="2026-08-30T17:15:41.379" v="12" actId="47"/>
      <pc:docMkLst>
        <pc:docMk/>
      </pc:docMkLst>
      <pc:sldChg chg="del">
        <pc:chgData name="NEHA DEEPTHI" userId="11b4eb8af682c208" providerId="LiveId" clId="{FD963E51-56A7-4F59-9560-027052A78E42}" dt="2026-08-30T17:15:41.379" v="12" actId="47"/>
        <pc:sldMkLst>
          <pc:docMk/>
          <pc:sldMk cId="3916788613" sldId="296"/>
        </pc:sldMkLst>
      </pc:sldChg>
      <pc:sldChg chg="modSp add mod">
        <pc:chgData name="NEHA DEEPTHI" userId="11b4eb8af682c208" providerId="LiveId" clId="{FD963E51-56A7-4F59-9560-027052A78E42}" dt="2026-08-30T13:42:54.908" v="11" actId="20577"/>
        <pc:sldMkLst>
          <pc:docMk/>
          <pc:sldMk cId="3779924293" sldId="297"/>
        </pc:sldMkLst>
        <pc:spChg chg="mod">
          <ac:chgData name="NEHA DEEPTHI" userId="11b4eb8af682c208" providerId="LiveId" clId="{FD963E51-56A7-4F59-9560-027052A78E42}" dt="2026-08-30T13:42:54.908" v="11" actId="20577"/>
          <ac:spMkLst>
            <pc:docMk/>
            <pc:sldMk cId="3779924293" sldId="297"/>
            <ac:spMk id="9" creationId="{5DBCE864-823D-4A13-9607-5DA1F0ED5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958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26044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Title– Portal for Academia-Industry Collaboration for Skill Mapping, Internships and Placement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Theme– Miscellaneous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Category–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ID–SIH26-A0H-T364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Name– Team Invictus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783080"/>
            <a:ext cx="12191999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SKILL-SETU – AI-Powered Academia–Industry Collaboration Portal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7600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11480" y="2724912"/>
            <a:ext cx="3538727" cy="1536192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Oval 15363"/>
          <p:cNvSpPr/>
          <p:nvPr/>
        </p:nvSpPr>
        <p:spPr>
          <a:xfrm>
            <a:off x="521208" y="2834639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960120" y="2852928"/>
            <a:ext cx="28072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What It Is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12648" y="3291840"/>
            <a:ext cx="3154679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>
                <a:solidFill>
                  <a:srgbClr val="222A33"/>
                </a:solidFill>
                <a:latin typeface="Calibri"/>
              </a:rPr>
              <a:t>•  Unified web portal mapping student skills to industry-defined competency taxonomy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>
                <a:solidFill>
                  <a:srgbClr val="222A33"/>
                </a:solidFill>
                <a:latin typeface="Calibri"/>
              </a:rPr>
              <a:t>•  Connects students, recruiters &amp; faculty on a single authenticated platform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087368" y="2724912"/>
            <a:ext cx="3538727" cy="1536192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Oval 15367"/>
          <p:cNvSpPr/>
          <p:nvPr/>
        </p:nvSpPr>
        <p:spPr>
          <a:xfrm>
            <a:off x="4197096" y="2834639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636007" y="2852928"/>
            <a:ext cx="28072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How It Works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288536" y="3291840"/>
            <a:ext cx="3154679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>
                <a:solidFill>
                  <a:srgbClr val="222A33"/>
                </a:solidFill>
                <a:latin typeface="Calibri"/>
              </a:rPr>
              <a:t>•  NLP resume/JD parser extracts skills → embedding-based matching engine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>
                <a:solidFill>
                  <a:srgbClr val="222A33"/>
                </a:solidFill>
                <a:latin typeface="Calibri"/>
              </a:rPr>
              <a:t>•  Recommends verified internships ranked by weighted skill-fit score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7763255" y="2724912"/>
            <a:ext cx="3538727" cy="1536192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Oval 15371"/>
          <p:cNvSpPr/>
          <p:nvPr/>
        </p:nvSpPr>
        <p:spPr>
          <a:xfrm>
            <a:off x="7872983" y="2834639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311895" y="2852928"/>
            <a:ext cx="28072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What's Unique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7964423" y="3291840"/>
            <a:ext cx="3154679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>
                <a:solidFill>
                  <a:srgbClr val="222A33"/>
                </a:solidFill>
                <a:latin typeface="Calibri"/>
              </a:rPr>
              <a:t>•  AI skill-gap engine + verified marketplace + curriculum feedback loop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>
                <a:solidFill>
                  <a:srgbClr val="222A33"/>
                </a:solidFill>
                <a:latin typeface="Calibri"/>
              </a:rPr>
              <a:t>•  Purpose-built for the Ayush sector; first unified system of its kind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11480" y="44074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Core Platform Modules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11480" y="4709160"/>
            <a:ext cx="3703320" cy="74980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Rectangle 15376"/>
          <p:cNvSpPr/>
          <p:nvPr/>
        </p:nvSpPr>
        <p:spPr>
          <a:xfrm>
            <a:off x="539496" y="4837176"/>
            <a:ext cx="91440" cy="4937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TextBox 15377"/>
          <p:cNvSpPr txBox="1"/>
          <p:nvPr/>
        </p:nvSpPr>
        <p:spPr>
          <a:xfrm>
            <a:off x="731520" y="47823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3864"/>
                </a:solidFill>
                <a:latin typeface="Calibri"/>
              </a:rPr>
              <a:t>Student Skill Profiler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31520" y="5038344"/>
            <a:ext cx="324612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22A33"/>
                </a:solidFill>
                <a:latin typeface="Calibri"/>
              </a:rPr>
              <a:t>Captures certifications, projects &amp; self-assessed skills into a structured graph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206240" y="4709160"/>
            <a:ext cx="3703320" cy="74980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Rectangle 15380"/>
          <p:cNvSpPr/>
          <p:nvPr/>
        </p:nvSpPr>
        <p:spPr>
          <a:xfrm>
            <a:off x="4334255" y="4837176"/>
            <a:ext cx="91440" cy="49377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2" name="TextBox 15381"/>
          <p:cNvSpPr txBox="1"/>
          <p:nvPr/>
        </p:nvSpPr>
        <p:spPr>
          <a:xfrm>
            <a:off x="4526279" y="47823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3864"/>
                </a:solidFill>
                <a:latin typeface="Calibri"/>
              </a:rPr>
              <a:t>AI Skill-Gap Engine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526279" y="5038344"/>
            <a:ext cx="324612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22A33"/>
                </a:solidFill>
                <a:latin typeface="Calibri"/>
              </a:rPr>
              <a:t>NLP resume/JD parsing with Sentence-BERT embedding similarity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00999" y="4709160"/>
            <a:ext cx="3703320" cy="74980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5" name="Rectangle 15384"/>
          <p:cNvSpPr/>
          <p:nvPr/>
        </p:nvSpPr>
        <p:spPr>
          <a:xfrm>
            <a:off x="8129015" y="4837176"/>
            <a:ext cx="91440" cy="493775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6" name="TextBox 15385"/>
          <p:cNvSpPr txBox="1"/>
          <p:nvPr/>
        </p:nvSpPr>
        <p:spPr>
          <a:xfrm>
            <a:off x="8321039" y="47823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3864"/>
                </a:solidFill>
                <a:latin typeface="Calibri"/>
              </a:rPr>
              <a:t>Internship Marketplace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8321039" y="5038344"/>
            <a:ext cx="324612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22A33"/>
                </a:solidFill>
                <a:latin typeface="Calibri"/>
              </a:rPr>
              <a:t>Verified postings from Ayush hospitals, wellness centres &amp; pharma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411480" y="5568696"/>
            <a:ext cx="3703320" cy="74980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9" name="Rectangle 15388"/>
          <p:cNvSpPr/>
          <p:nvPr/>
        </p:nvSpPr>
        <p:spPr>
          <a:xfrm>
            <a:off x="539496" y="5696712"/>
            <a:ext cx="91440" cy="4937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0" name="TextBox 15389"/>
          <p:cNvSpPr txBox="1"/>
          <p:nvPr/>
        </p:nvSpPr>
        <p:spPr>
          <a:xfrm>
            <a:off x="731520" y="564184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3864"/>
                </a:solidFill>
                <a:latin typeface="Calibri"/>
              </a:rPr>
              <a:t>Employer Dashboard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731520" y="5897880"/>
            <a:ext cx="324612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22A33"/>
                </a:solidFill>
                <a:latin typeface="Calibri"/>
              </a:rPr>
              <a:t>Shortlists candidates ranked by matched-competency score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4206240" y="5568696"/>
            <a:ext cx="3703320" cy="74980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3" name="Rectangle 15392"/>
          <p:cNvSpPr/>
          <p:nvPr/>
        </p:nvSpPr>
        <p:spPr>
          <a:xfrm>
            <a:off x="4334255" y="5696712"/>
            <a:ext cx="91440" cy="49377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4" name="TextBox 15393"/>
          <p:cNvSpPr txBox="1"/>
          <p:nvPr/>
        </p:nvSpPr>
        <p:spPr>
          <a:xfrm>
            <a:off x="4526279" y="564184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3864"/>
                </a:solidFill>
                <a:latin typeface="Calibri"/>
              </a:rPr>
              <a:t>Institution Analytics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4526279" y="5897880"/>
            <a:ext cx="324612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22A33"/>
                </a:solidFill>
                <a:latin typeface="Calibri"/>
              </a:rPr>
              <a:t>Curriculum-gap heatmaps &amp; real-time placement tracking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8000999" y="5568696"/>
            <a:ext cx="3703320" cy="74980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7" name="Rectangle 15396"/>
          <p:cNvSpPr/>
          <p:nvPr/>
        </p:nvSpPr>
        <p:spPr>
          <a:xfrm>
            <a:off x="8129015" y="5696712"/>
            <a:ext cx="91440" cy="493775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8" name="TextBox 15397"/>
          <p:cNvSpPr txBox="1"/>
          <p:nvPr/>
        </p:nvSpPr>
        <p:spPr>
          <a:xfrm>
            <a:off x="8321039" y="564184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3864"/>
                </a:solidFill>
                <a:latin typeface="Calibri"/>
              </a:rPr>
              <a:t>Admin / Ministry Console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321039" y="5897880"/>
            <a:ext cx="324612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22A33"/>
                </a:solidFill>
                <a:latin typeface="Calibri"/>
              </a:rPr>
              <a:t>National skill-mapping dataset, reports &amp; policy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465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Invictus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847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System Architecture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2148840"/>
            <a:ext cx="2084831" cy="10515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050" b="1">
                <a:solidFill>
                  <a:srgbClr val="1F3864"/>
                </a:solidFill>
              </a:rPr>
              <a:t>Client Layer</a:t>
            </a:r>
          </a:p>
          <a:p>
            <a:pPr algn="ctr"/>
            <a:r>
              <a:rPr sz="800">
                <a:solidFill>
                  <a:srgbClr val="1F3864"/>
                </a:solidFill>
              </a:rPr>
              <a:t>React PWA</a:t>
            </a:r>
            <a:br/>
            <a:r>
              <a:rPr sz="800">
                <a:solidFill>
                  <a:srgbClr val="1F3864"/>
                </a:solidFill>
              </a:rPr>
              <a:t>(Web + Mobile)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2514600" y="2674620"/>
            <a:ext cx="132588" cy="0"/>
          </a:xfrm>
          <a:prstGeom prst="line">
            <a:avLst/>
          </a:prstGeom>
          <a:ln w="19050">
            <a:solidFill>
              <a:srgbClr val="5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2665476" y="2148840"/>
            <a:ext cx="2084831" cy="10515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050" b="1">
                <a:solidFill>
                  <a:srgbClr val="1F3864"/>
                </a:solidFill>
              </a:rPr>
              <a:t>API Gateway</a:t>
            </a:r>
          </a:p>
          <a:p>
            <a:pPr algn="ctr"/>
            <a:r>
              <a:rPr sz="800">
                <a:solidFill>
                  <a:srgbClr val="1F3864"/>
                </a:solidFill>
              </a:rPr>
              <a:t>Node.js / Express</a:t>
            </a:r>
            <a:br/>
            <a:r>
              <a:rPr sz="800">
                <a:solidFill>
                  <a:srgbClr val="1F3864"/>
                </a:solidFill>
              </a:rPr>
              <a:t>JWT Auth, Rate-Limit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4768596" y="2674620"/>
            <a:ext cx="132588" cy="0"/>
          </a:xfrm>
          <a:prstGeom prst="line">
            <a:avLst/>
          </a:prstGeom>
          <a:ln w="19050">
            <a:solidFill>
              <a:srgbClr val="5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4919472" y="2148840"/>
            <a:ext cx="2084831" cy="10515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Microservices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Profile · Matching ·</a:t>
            </a:r>
            <a:br/>
            <a:r>
              <a:rPr sz="800">
                <a:solidFill>
                  <a:srgbClr val="FFFFFF"/>
                </a:solidFill>
              </a:rPr>
              <a:t>Internship · Notify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7022592" y="2674620"/>
            <a:ext cx="132588" cy="0"/>
          </a:xfrm>
          <a:prstGeom prst="line">
            <a:avLst/>
          </a:prstGeom>
          <a:ln w="19050">
            <a:solidFill>
              <a:srgbClr val="5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7173468" y="2148840"/>
            <a:ext cx="2084831" cy="10515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050" b="1">
                <a:solidFill>
                  <a:srgbClr val="1F3864"/>
                </a:solidFill>
              </a:rPr>
              <a:t>AI / ML Layer</a:t>
            </a:r>
          </a:p>
          <a:p>
            <a:pPr algn="ctr"/>
            <a:r>
              <a:rPr sz="800">
                <a:solidFill>
                  <a:srgbClr val="1F3864"/>
                </a:solidFill>
              </a:rPr>
              <a:t>NLP Parser +</a:t>
            </a:r>
            <a:br/>
            <a:r>
              <a:rPr sz="800">
                <a:solidFill>
                  <a:srgbClr val="1F3864"/>
                </a:solidFill>
              </a:rPr>
              <a:t>Embedding Model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9276588" y="2674620"/>
            <a:ext cx="132588" cy="0"/>
          </a:xfrm>
          <a:prstGeom prst="line">
            <a:avLst/>
          </a:prstGeom>
          <a:ln w="19050">
            <a:solidFill>
              <a:srgbClr val="5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9427463" y="2148840"/>
            <a:ext cx="2084831" cy="10515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050" b="1">
                <a:solidFill>
                  <a:srgbClr val="1F3864"/>
                </a:solidFill>
              </a:rPr>
              <a:t>Data Layer</a:t>
            </a:r>
          </a:p>
          <a:p>
            <a:pPr algn="ctr"/>
            <a:r>
              <a:rPr sz="800">
                <a:solidFill>
                  <a:srgbClr val="1F3864"/>
                </a:solidFill>
              </a:rPr>
              <a:t>PostgreSQL · MongoDB</a:t>
            </a:r>
            <a:br/>
            <a:r>
              <a:rPr sz="800">
                <a:solidFill>
                  <a:srgbClr val="1F3864"/>
                </a:solidFill>
              </a:rPr>
              <a:t>Redis · S3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3337560"/>
            <a:ext cx="11338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Skill-Matching Algorithm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1480" y="3611880"/>
            <a:ext cx="11338560" cy="7772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594360" y="36850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A33"/>
                </a:solidFill>
                <a:latin typeface="Calibri"/>
              </a:rPr>
              <a:t>Resume / JD text → tokenization &amp; Sentence-BERT embeddings → cosine similarity vs. skill-taxonomy graph → weighted score = 0.60 × skill-match + 0.25 × experience relevance + 0.15 × location/availability → top-N ranked recommendations, refreshed nightly via an Airflow batch job; cold-start users get rule-based fallback matches.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11480" y="4572000"/>
            <a:ext cx="3602735" cy="16916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ectangle 17423"/>
          <p:cNvSpPr/>
          <p:nvPr/>
        </p:nvSpPr>
        <p:spPr>
          <a:xfrm>
            <a:off x="557784" y="4700016"/>
            <a:ext cx="109728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777240" y="4645152"/>
            <a:ext cx="31638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864"/>
                </a:solidFill>
                <a:latin typeface="Calibri"/>
              </a:rPr>
              <a:t>Tech Stack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76072" y="4956048"/>
            <a:ext cx="3383279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Frontend: React.js, Redux, Tailwind CSS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Backend: Node.js, Express, REST + GraphQL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Database: PostgreSQL (relational), MongoDB (profiles)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AI/ML: Python, spaCy, Sentence-BERT, scikit-learn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Cache/Queue: Redis, RabbitMQ for async jobs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123944" y="4572000"/>
            <a:ext cx="3602735" cy="16916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ectangle 17427"/>
          <p:cNvSpPr/>
          <p:nvPr/>
        </p:nvSpPr>
        <p:spPr>
          <a:xfrm>
            <a:off x="4270248" y="4700016"/>
            <a:ext cx="109728" cy="10972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4489704" y="4645152"/>
            <a:ext cx="31638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864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288536" y="4956048"/>
            <a:ext cx="3383279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OAuth 2.0 + JWT with role-based access control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TLS 1.3 in transit, AES-256 encryption at rest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DPDP Act 2023-compliant consent management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Audit logging &amp; anomaly detection on admin actions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Periodic third-party penetration testing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836408" y="4572000"/>
            <a:ext cx="3602735" cy="16916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ectangle 17431"/>
          <p:cNvSpPr/>
          <p:nvPr/>
        </p:nvSpPr>
        <p:spPr>
          <a:xfrm>
            <a:off x="7982712" y="4700016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202168" y="4645152"/>
            <a:ext cx="31638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864"/>
                </a:solidFill>
                <a:latin typeface="Calibri"/>
              </a:rPr>
              <a:t>DevOps &amp; Scalability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001000" y="4956048"/>
            <a:ext cx="3383279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Docker containers orchestrated with Kubernetes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CI/CD via GitHub Actions; blue-green deployments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Hosted on AWS / NIC Cloud with auto-scaling groups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Prometheus + Grafana for monitoring &amp; alerting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00">
                <a:solidFill>
                  <a:srgbClr val="222A33"/>
                </a:solidFill>
                <a:latin typeface="Calibri"/>
              </a:rPr>
              <a:t>•  Load-tested for 50,000+ concurrent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718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847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Stakeholder Impact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11480" y="2176272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Stakeholder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Pain Point Today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Impact with SKILL-SETU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Est. KPI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Students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No clarity on industry-required skills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Personalised skill-gap report + internship matches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40%+ faster matching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Industry / Recruiters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Hard to find verified, job-ready talent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Ranked candidate shortlist by competency score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30% lower screening time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Academia / Faculty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No visibility into placement or curriculum gaps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Live curriculum-gap heatmaps &amp; placement dashboard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360° institutional visibility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Ministry of Ayush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Fragmented, manual skill &amp; placement data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Unified national skill-mapping dataset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1 national data source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411480" y="4251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Key Outcomes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457200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4645152"/>
            <a:ext cx="2359152" cy="55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28C28"/>
                </a:solidFill>
                <a:latin typeface="Calibri"/>
              </a:rPr>
              <a:t>40%+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5213908"/>
            <a:ext cx="2450591" cy="55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Faster student-to-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internship matching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172968" y="457200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3310128" y="4645152"/>
            <a:ext cx="2359152" cy="55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28C28"/>
                </a:solidFill>
                <a:latin typeface="Calibri"/>
              </a:rPr>
              <a:t>360°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64408" y="5213908"/>
            <a:ext cx="2450591" cy="55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Visibility across academia,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industry &amp; government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34456" y="457200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6071616" y="4645152"/>
            <a:ext cx="2359152" cy="55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28C28"/>
                </a:solidFill>
                <a:latin typeface="Calibri"/>
              </a:rPr>
              <a:t>50K+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025896" y="5213908"/>
            <a:ext cx="2450591" cy="55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Concurrent users supported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at scale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695944" y="457200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833104" y="4645152"/>
            <a:ext cx="2359152" cy="55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28C28"/>
                </a:solidFill>
                <a:latin typeface="Calibri"/>
              </a:rPr>
              <a:t>SDG 4 &amp; 8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787384" y="5213908"/>
            <a:ext cx="2450591" cy="55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Quality Education &amp;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</a:rPr>
              <a:t>Decent Work alignment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B78"/>
                </a:solidFill>
                <a:latin typeface="Calibri"/>
              </a:rPr>
              <a:t>Reduces youth unemployment &amp; skill mismatch in India's traditional-medicine sector; strengthens the national Ayush workforce pipeline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563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847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Feasibility Analysis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2148840"/>
            <a:ext cx="3538727" cy="16916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521208" y="2258568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60120" y="2276856"/>
            <a:ext cx="28072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Technical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2648" y="2715768"/>
            <a:ext cx="31546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Mature open-source stack (React, Node, Python) with strong community support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Modular microservices allow independent scaling of the AI matching engine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Phased rollout: pilot at AIIA before extending to all Ayush institutions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087368" y="2148840"/>
            <a:ext cx="3538727" cy="16916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4197096" y="2258568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636007" y="2276856"/>
            <a:ext cx="28072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Regulatory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288536" y="2715768"/>
            <a:ext cx="31546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Aligned with UGC internship guidelines &amp; AICTE internship framework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DPDP Act, 2023-compliant consent-based data collection &amp; sharing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Role-based access ensures data minimisation for each stakeholder type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763255" y="2148840"/>
            <a:ext cx="3538727" cy="16916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Oval 17419"/>
          <p:cNvSpPr/>
          <p:nvPr/>
        </p:nvSpPr>
        <p:spPr>
          <a:xfrm>
            <a:off x="7872983" y="225856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11895" y="2276856"/>
            <a:ext cx="28072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964423" y="2715768"/>
            <a:ext cx="31546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Low opex via pay-as-you-go cloud infra (~₹0.8–1.2L/month at pilot scale)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Freemium model for institutions; nominal subscription for large recruiters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00">
                <a:solidFill>
                  <a:srgbClr val="222A33"/>
                </a:solidFill>
                <a:latin typeface="Calibri"/>
              </a:rPr>
              <a:t>•  Central govt. Ayush-sector grant + CSR partnerships to fund scale-up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11480" y="3977639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Risk Matrix &amp; Mitigation</a:t>
            </a:r>
          </a:p>
        </p:txBody>
      </p:sp>
      <p:graphicFrame>
        <p:nvGraphicFramePr>
          <p:cNvPr id="17424" name="Table 17423"/>
          <p:cNvGraphicFramePr>
            <a:graphicFrameLocks noGrp="1"/>
          </p:cNvGraphicFramePr>
          <p:nvPr/>
        </p:nvGraphicFramePr>
        <p:xfrm>
          <a:off x="411480" y="4297680"/>
          <a:ext cx="113385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Low initial institutional adoption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Medium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High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Pilot at AIIA + 2–3 partner colleges with onboarding support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Inaccurate self-reported skill data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High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Medium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Verified assessments &amp; third-party certification checks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Evolving industry skill taxonomy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Medium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Medium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Quarterly industry-advisory review + model retraining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Data privacy / DPDP non-compliance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Low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High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Consent-based sharing, encryption, regular audits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AI cold-start for new users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High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Low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Rule-based fallback recommendations until data accrues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8778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Invictus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847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Competitive Landscape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11480" y="2176272"/>
          <a:ext cx="11338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Existing Platform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Focus Area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Gap SKILL-SETU Addresses</a:t>
                      </a:r>
                    </a:p>
                  </a:txBody>
                  <a:tcPr marL="76200" marR="50800" marT="38100" marB="381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LinkedIn / Naukri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General job &amp; networking matching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No institution/curriculum linkage or skill-gap analytics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Internshala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Internship listings marketplace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No AI-based skill-gap mapping or verified competency scoring</a:t>
                      </a:r>
                    </a:p>
                  </a:txBody>
                  <a:tcPr marL="76200" marR="508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AICTE Internship Portal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Manual internship registry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222A33"/>
                          </a:solidFill>
                        </a:rPr>
                        <a:t>No real-time analytics, ML matching, or Ayush-sector focus</a:t>
                      </a:r>
                    </a:p>
                  </a:txBody>
                  <a:tcPr marL="762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411480" y="3611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Research &amp; References (IEEE Format)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3950208"/>
            <a:ext cx="548640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[1]  </a:t>
            </a:r>
            <a:r>
              <a:rPr sz="950">
                <a:solidFill>
                  <a:srgbClr val="222A33"/>
                </a:solidFill>
              </a:rPr>
              <a:t>All India Council for Technical Education (AICTE), “Internship Policy Framework.” [Online]. Available: https://www.aicte-india.org</a:t>
            </a:r>
          </a:p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[2]  </a:t>
            </a:r>
            <a:r>
              <a:rPr sz="950">
                <a:solidFill>
                  <a:srgbClr val="222A33"/>
                </a:solidFill>
              </a:rPr>
              <a:t>Ministry of Ayush, Government of India, “Annual Report and AIIA Institutional Data.” [Online]. Available: https://www.ayush.gov.in</a:t>
            </a:r>
          </a:p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[3]  </a:t>
            </a:r>
            <a:r>
              <a:rPr sz="950">
                <a:solidFill>
                  <a:srgbClr val="222A33"/>
                </a:solidFill>
              </a:rPr>
              <a:t>Ministry of Education, Government of India, “National Education Policy 2020.” [Online]. Available: https://www.education.gov.in</a:t>
            </a:r>
          </a:p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[4]  </a:t>
            </a:r>
            <a:r>
              <a:rPr sz="950">
                <a:solidFill>
                  <a:srgbClr val="222A33"/>
                </a:solidFill>
              </a:rPr>
              <a:t>Ministry of Education, Government of India, “All India Survey on Higher Education (AISHE) Report.” [Online]. Available: https://www.education.gov.in/aishe</a:t>
            </a:r>
          </a:p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[5]  </a:t>
            </a:r>
            <a:r>
              <a:rPr sz="950">
                <a:solidFill>
                  <a:srgbClr val="222A33"/>
                </a:solidFill>
              </a:rPr>
              <a:t>Ministry of Statistics and Programme Implementation (MoSPI), “Periodic Labour Force Survey (PLFS).” [Online]. Available: https://www.mospi.gov.in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72200" y="3950208"/>
            <a:ext cx="557784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[6]  </a:t>
            </a:r>
            <a:r>
              <a:rPr sz="950">
                <a:solidFill>
                  <a:srgbClr val="222A33"/>
                </a:solidFill>
              </a:rPr>
              <a:t>N. Reimers and I. Gurevych, “Sentence-BERT: Sentence Embeddings using Siamese BERT-Networks,” in Proc. EMNLP-IJCNLP, 2019, pp. 3982–3992.</a:t>
            </a:r>
          </a:p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[7]  </a:t>
            </a:r>
            <a:r>
              <a:rPr sz="950">
                <a:solidFill>
                  <a:srgbClr val="222A33"/>
                </a:solidFill>
              </a:rPr>
              <a:t>Ministry of Electronics and Information Technology (MeitY), “Digital Personal Data Protection Act, 2023.” [Online]. Available: https://www.meity.gov.in</a:t>
            </a:r>
          </a:p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[8]  </a:t>
            </a:r>
            <a:r>
              <a:rPr sz="950">
                <a:solidFill>
                  <a:srgbClr val="222A33"/>
                </a:solidFill>
              </a:rPr>
              <a:t>University Grants Commission (UGC), “UGC Internship Guidelines, 2023.” [Online]. Available: https://www.ugc.gov.in</a:t>
            </a:r>
          </a:p>
          <a:p>
            <a:pPr>
              <a:lnSpc>
                <a:spcPct val="115000"/>
              </a:lnSpc>
              <a:spcAft>
                <a:spcPts val="576"/>
              </a:spcAft>
            </a:pPr>
            <a:r>
              <a:rPr sz="950" b="1">
                <a:solidFill>
                  <a:srgbClr val="1F3864"/>
                </a:solidFill>
              </a:rPr>
              <a:t>[9]  </a:t>
            </a:r>
            <a:r>
              <a:rPr sz="950">
                <a:solidFill>
                  <a:srgbClr val="222A33"/>
                </a:solidFill>
              </a:rPr>
              <a:t>IEEE/ACM Digital Library, “AI-Based Recommendation Systems in Educational Technology: A Survey,” 2022.</a:t>
            </a:r>
          </a:p>
        </p:txBody>
      </p:sp>
    </p:spTree>
    <p:extLst>
      <p:ext uri="{BB962C8B-B14F-4D97-AF65-F5344CB8AC3E}">
        <p14:creationId xmlns:p14="http://schemas.microsoft.com/office/powerpoint/2010/main" val="377992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7501</TotalTime>
  <Words>1184</Words>
  <Application>Microsoft Office PowerPoint</Application>
  <PresentationFormat>Widescreen</PresentationFormat>
  <Paragraphs>192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IMPACT AND BENEFITS</vt:lpstr>
      <vt:lpstr>FEASIBILITY AND VIABILITY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NEHA DEEPTHI</cp:lastModifiedBy>
  <cp:revision>150</cp:revision>
  <dcterms:created xsi:type="dcterms:W3CDTF">2013-12-12T18:46:50Z</dcterms:created>
  <dcterms:modified xsi:type="dcterms:W3CDTF">2026-08-30T17:15:50Z</dcterms:modified>
  <cp:category/>
</cp:coreProperties>
</file>